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6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92491-E5DA-43B8-A802-DCCC750F05DD}" type="datetimeFigureOut">
              <a:rPr lang="fr-FR" smtClean="0"/>
              <a:t>02/05/2026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2E6C2-87D0-41F2-876E-1BA0F85310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13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 services orchestrés par Docker Compose 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mongodb</a:t>
            </a:r>
            <a:r>
              <a:rPr lang="fr-FR" dirty="0"/>
              <a:t> (persistant) +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migrator</a:t>
            </a:r>
            <a:r>
              <a:rPr lang="fr-FR" dirty="0"/>
              <a:t> (one-shot)</a:t>
            </a:r>
          </a:p>
          <a:p>
            <a:r>
              <a:rPr lang="fr-FR" dirty="0"/>
              <a:t>Réseau dédié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opc5-network</a:t>
            </a:r>
            <a:r>
              <a:rPr lang="fr-FR" dirty="0"/>
              <a:t> (bridge), volumes persistants, </a:t>
            </a:r>
            <a:r>
              <a:rPr lang="fr-FR" dirty="0" err="1"/>
              <a:t>healthcheck</a:t>
            </a:r>
            <a:r>
              <a:rPr lang="fr-FR" dirty="0"/>
              <a:t> Mongo</a:t>
            </a:r>
          </a:p>
          <a:p>
            <a:r>
              <a:rPr lang="fr-FR" dirty="0"/>
              <a:t>Configuration externalisée via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.env</a:t>
            </a:r>
            <a:r>
              <a:rPr lang="fr-FR" dirty="0"/>
              <a:t> (non versionné)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2E6C2-87D0-41F2-876E-1BA0F853104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75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 MongoDB 7 car </a:t>
            </a:r>
            <a:r>
              <a:rPr lang="fr-FR" sz="1200" dirty="0"/>
              <a:t>fin de support en août 2026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2E6C2-87D0-41F2-876E-1BA0F853104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056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Secret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passer par Secrets Manager ou Vault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2E6C2-87D0-41F2-876E-1BA0F853104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61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ANNO/OPC5-Maintenez_et_documentez_un_systeme_de_stockage_des_donnees_securise_et_performan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FD63B4A-4196-9805-29D7-70748ECA7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fr-FR" sz="3200" b="1" dirty="0"/>
              <a:t>Maintenez et documentez un système de stockage des données sécurisé et performant</a:t>
            </a:r>
            <a:endParaRPr lang="fr-FR" sz="3200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48805A19-F7A8-DC63-FF35-5DCA7DA71E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1600" dirty="0"/>
              <a:t>Auteur : Paul-Alexandre Annonay</a:t>
            </a:r>
          </a:p>
          <a:p>
            <a:r>
              <a:rPr lang="fr-FR" sz="1600" dirty="0"/>
              <a:t>Date : 04/05/2026</a:t>
            </a:r>
          </a:p>
          <a:p>
            <a:r>
              <a:rPr lang="fr-FR" sz="1600" dirty="0"/>
              <a:t>Mentor : Paul Smadja</a:t>
            </a:r>
          </a:p>
        </p:txBody>
      </p:sp>
    </p:spTree>
    <p:extLst>
      <p:ext uri="{BB962C8B-B14F-4D97-AF65-F5344CB8AC3E}">
        <p14:creationId xmlns:p14="http://schemas.microsoft.com/office/powerpoint/2010/main" val="1815450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1EF1B-92BC-8000-E5C1-5614FFD8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&amp; demande client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6B0344D-4609-69A2-7564-7BECB63D3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713437"/>
              </p:ext>
            </p:extLst>
          </p:nvPr>
        </p:nvGraphicFramePr>
        <p:xfrm>
          <a:off x="1023938" y="2286000"/>
          <a:ext cx="9720262" cy="39867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70105">
                  <a:extLst>
                    <a:ext uri="{9D8B030D-6E8A-4147-A177-3AD203B41FA5}">
                      <a16:colId xmlns:a16="http://schemas.microsoft.com/office/drawing/2014/main" val="2969024101"/>
                    </a:ext>
                  </a:extLst>
                </a:gridCol>
                <a:gridCol w="8150157">
                  <a:extLst>
                    <a:ext uri="{9D8B030D-6E8A-4147-A177-3AD203B41FA5}">
                      <a16:colId xmlns:a16="http://schemas.microsoft.com/office/drawing/2014/main" val="3065875497"/>
                    </a:ext>
                  </a:extLst>
                </a:gridCol>
              </a:tblGrid>
              <a:tr h="1328928">
                <a:tc>
                  <a:txBody>
                    <a:bodyPr/>
                    <a:lstStyle/>
                    <a:p>
                      <a:r>
                        <a:rPr lang="fr-FR" b="1" dirty="0"/>
                        <a:t>La demande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dirty="0"/>
                        <a:t>Boris (chef de projet) sollicite une intervention pour le compte de </a:t>
                      </a:r>
                      <a:r>
                        <a:rPr lang="fr-FR" b="0" dirty="0" err="1"/>
                        <a:t>DataSoluTech</a:t>
                      </a:r>
                      <a:r>
                        <a:rPr lang="fr-FR" b="0" dirty="0"/>
                        <a:t>, prestataire en gestion de données médicales.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219018"/>
                  </a:ext>
                </a:extLst>
              </a:tr>
              <a:tr h="1328928">
                <a:tc>
                  <a:txBody>
                    <a:bodyPr/>
                    <a:lstStyle/>
                    <a:p>
                      <a:r>
                        <a:rPr lang="fr-FR" b="1" dirty="0"/>
                        <a:t>Le client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DataSoluTech</a:t>
                      </a:r>
                      <a:r>
                        <a:rPr lang="fr-FR" dirty="0"/>
                        <a:t> rencontre des problèmes de scalabilité avec sa stack de données médicales actuelle. Volume croissant, schémas hétérogènes, besoin d'évolutivité.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127133"/>
                  </a:ext>
                </a:extLst>
              </a:tr>
              <a:tr h="1328928">
                <a:tc>
                  <a:txBody>
                    <a:bodyPr/>
                    <a:lstStyle/>
                    <a:p>
                      <a:r>
                        <a:rPr lang="fr-FR" b="1" dirty="0"/>
                        <a:t>La mission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Migrer ces données vers une base </a:t>
                      </a:r>
                      <a:r>
                        <a:rPr lang="fr-FR" b="1" dirty="0"/>
                        <a:t>MongoDB conteneurisée</a:t>
                      </a:r>
                      <a:r>
                        <a:rPr lang="fr-FR" dirty="0"/>
                        <a:t>, sécurisée, testée. En complément : étude documentaire des services AWS pour préparer une trajectoire cloud.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51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39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16B98-7006-7EB8-5549-675AB508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Repo &amp; structure documentaire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0C0DCE-CB18-F723-6A79-E1D9684F7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400" b="1" dirty="0"/>
              <a:t>Repo </a:t>
            </a:r>
            <a:r>
              <a:rPr lang="fr-FR" sz="1400" b="1" dirty="0" err="1"/>
              <a:t>Github</a:t>
            </a:r>
            <a:r>
              <a:rPr lang="fr-FR" sz="1400" b="1" dirty="0"/>
              <a:t> : </a:t>
            </a:r>
            <a:r>
              <a:rPr lang="fr-FR" sz="1400" b="1" dirty="0">
                <a:hlinkClick r:id="rId2"/>
              </a:rPr>
              <a:t>OPC5-Maintenez_et_documentez_un_systeme_de_stockage_des_donnees_securise_et_performant</a:t>
            </a:r>
            <a:endParaRPr lang="fr-FR" sz="1400" b="1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483344C-3326-CA1F-48E2-2C87BE2B8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67593"/>
              </p:ext>
            </p:extLst>
          </p:nvPr>
        </p:nvGraphicFramePr>
        <p:xfrm>
          <a:off x="1024128" y="3172460"/>
          <a:ext cx="9720072" cy="2250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223618">
                  <a:extLst>
                    <a:ext uri="{9D8B030D-6E8A-4147-A177-3AD203B41FA5}">
                      <a16:colId xmlns:a16="http://schemas.microsoft.com/office/drawing/2014/main" val="2738594030"/>
                    </a:ext>
                  </a:extLst>
                </a:gridCol>
                <a:gridCol w="6496454">
                  <a:extLst>
                    <a:ext uri="{9D8B030D-6E8A-4147-A177-3AD203B41FA5}">
                      <a16:colId xmlns:a16="http://schemas.microsoft.com/office/drawing/2014/main" val="3554364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/>
                        <a:t>Fichier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/>
                        <a:t>Rôle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1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Courier New" panose="02070309020205020404" pitchFamily="49" charset="0"/>
                        </a:rPr>
                        <a:t>README.md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Vue d'ensemble du projet, prérequis, lancement, matrice consigne/livrables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951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Courier New" panose="02070309020205020404" pitchFamily="49" charset="0"/>
                        </a:rPr>
                        <a:t>DECISIONS.md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22 ADR (Architecture </a:t>
                      </a:r>
                      <a:r>
                        <a:rPr lang="fr-FR" sz="1400" dirty="0" err="1"/>
                        <a:t>Decision</a:t>
                      </a:r>
                      <a:r>
                        <a:rPr lang="fr-FR" sz="1400" dirty="0"/>
                        <a:t> Records) traçant tous les choix techniques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179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Courier New" panose="02070309020205020404" pitchFamily="49" charset="0"/>
                        </a:rPr>
                        <a:t>docs/security_tests.md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Validation manuelle des 3 rôles 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8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Courier New" panose="02070309020205020404" pitchFamily="49" charset="0"/>
                        </a:rPr>
                        <a:t>docs/aws_research.md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Étude documentaire AWS en 9 sections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95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Courier New" panose="02070309020205020404" pitchFamily="49" charset="0"/>
                        </a:rPr>
                        <a:t>tests/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25 tests automatisés </a:t>
                      </a:r>
                      <a:r>
                        <a:rPr lang="fr-FR" sz="1400" dirty="0" err="1"/>
                        <a:t>pytest</a:t>
                      </a:r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6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21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258FC-F39D-F55D-80C0-746E484F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source &amp; choix MongoDB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5395195-18BD-7800-0EA9-75089F2C3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7E0C769-D2E6-FB4B-3AA0-69D63407F3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healthcare_dataset.csv</a:t>
            </a:r>
            <a:r>
              <a:rPr lang="en-US" sz="2000" dirty="0"/>
              <a:t> </a:t>
            </a:r>
            <a:r>
              <a:rPr lang="en-US" sz="2000" i="1" dirty="0"/>
              <a:t>(source : Kaggle)</a:t>
            </a:r>
          </a:p>
          <a:p>
            <a:pPr lvl="1"/>
            <a:r>
              <a:rPr lang="fr-FR" sz="1600" dirty="0"/>
              <a:t>55 500 lignes × 15 colonnes</a:t>
            </a:r>
          </a:p>
          <a:p>
            <a:pPr lvl="1"/>
            <a:r>
              <a:rPr lang="fr-FR" sz="1600" dirty="0"/>
              <a:t>Domaine médical : patients, hôpitaux, médecins, traitements, facturation</a:t>
            </a:r>
          </a:p>
          <a:p>
            <a:pPr lvl="1"/>
            <a:r>
              <a:rPr lang="fr-FR" sz="1600" dirty="0"/>
              <a:t>Après dédoublonnage : </a:t>
            </a:r>
            <a:r>
              <a:rPr lang="fr-FR" sz="1600" b="1" dirty="0"/>
              <a:t>54 966 documents uniques</a:t>
            </a:r>
            <a:endParaRPr lang="fr-FR" sz="1600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091C333-44C7-1310-3C85-86FAC45D8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Pourquoi MongoDB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51E3AD49-4EAF-1B14-F94F-44EAEC74C78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FR" sz="2000" b="1" dirty="0"/>
              <a:t>Schéma flexible</a:t>
            </a:r>
            <a:r>
              <a:rPr lang="fr-FR" sz="2000" dirty="0"/>
              <a:t> : adapté à des données médicales hétérogènes par patient</a:t>
            </a:r>
          </a:p>
          <a:p>
            <a:r>
              <a:rPr lang="fr-FR" sz="2000" b="1" dirty="0" err="1"/>
              <a:t>Scaling</a:t>
            </a:r>
            <a:r>
              <a:rPr lang="fr-FR" sz="2000" b="1" dirty="0"/>
              <a:t> horizontal</a:t>
            </a:r>
            <a:r>
              <a:rPr lang="fr-FR" sz="2000" dirty="0"/>
              <a:t> : </a:t>
            </a:r>
            <a:r>
              <a:rPr lang="fr-FR" sz="2000" dirty="0" err="1"/>
              <a:t>sharding</a:t>
            </a:r>
            <a:r>
              <a:rPr lang="fr-FR" sz="2000" dirty="0"/>
              <a:t> natif, anticipe la croissance</a:t>
            </a:r>
          </a:p>
          <a:p>
            <a:r>
              <a:rPr lang="fr-FR" sz="2000" b="1" dirty="0"/>
              <a:t>Requêtes filtrées riches</a:t>
            </a:r>
            <a:r>
              <a:rPr lang="fr-FR" sz="2000" dirty="0"/>
              <a:t> : index composés sur condition + démographie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49E1A50-444B-52DD-1CAC-ED2B57C01A3A}"/>
              </a:ext>
            </a:extLst>
          </p:cNvPr>
          <p:cNvSpPr/>
          <p:nvPr/>
        </p:nvSpPr>
        <p:spPr>
          <a:xfrm>
            <a:off x="1173804" y="4623881"/>
            <a:ext cx="4520119" cy="1595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400F14A-0E11-5908-8A03-A1D0FEC5D8DF}"/>
              </a:ext>
            </a:extLst>
          </p:cNvPr>
          <p:cNvSpPr txBox="1"/>
          <p:nvPr/>
        </p:nvSpPr>
        <p:spPr>
          <a:xfrm>
            <a:off x="1355386" y="4836773"/>
            <a:ext cx="41569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Champs :</a:t>
            </a:r>
          </a:p>
          <a:p>
            <a:r>
              <a:rPr lang="en-US" sz="1400" dirty="0"/>
              <a:t>name, age, gender, </a:t>
            </a:r>
            <a:r>
              <a:rPr lang="en-US" sz="1400" dirty="0" err="1"/>
              <a:t>blood_type</a:t>
            </a:r>
            <a:r>
              <a:rPr lang="en-US" sz="1400" dirty="0"/>
              <a:t>, </a:t>
            </a:r>
            <a:r>
              <a:rPr lang="en-US" sz="1400" dirty="0" err="1"/>
              <a:t>medical_condition</a:t>
            </a:r>
            <a:r>
              <a:rPr lang="en-US" sz="1400" dirty="0"/>
              <a:t>,</a:t>
            </a:r>
          </a:p>
          <a:p>
            <a:r>
              <a:rPr lang="en-US" sz="1400" dirty="0" err="1"/>
              <a:t>date_of_admission</a:t>
            </a:r>
            <a:r>
              <a:rPr lang="en-US" sz="1400" dirty="0"/>
              <a:t>, doctor, hospital, </a:t>
            </a:r>
            <a:r>
              <a:rPr lang="en-US" sz="1400" dirty="0" err="1"/>
              <a:t>insurance_provider</a:t>
            </a:r>
            <a:r>
              <a:rPr lang="en-US" sz="1400" dirty="0"/>
              <a:t>,</a:t>
            </a:r>
          </a:p>
          <a:p>
            <a:r>
              <a:rPr lang="en-US" sz="1400" dirty="0" err="1"/>
              <a:t>billing_amount</a:t>
            </a:r>
            <a:r>
              <a:rPr lang="en-US" sz="1400" dirty="0"/>
              <a:t>, </a:t>
            </a:r>
            <a:r>
              <a:rPr lang="en-US" sz="1400" dirty="0" err="1"/>
              <a:t>room_number</a:t>
            </a:r>
            <a:r>
              <a:rPr lang="en-US" sz="1400" dirty="0"/>
              <a:t>, </a:t>
            </a:r>
            <a:r>
              <a:rPr lang="en-US" sz="1400" dirty="0" err="1"/>
              <a:t>admission_type</a:t>
            </a:r>
            <a:r>
              <a:rPr lang="en-US" sz="1400" dirty="0"/>
              <a:t>,</a:t>
            </a:r>
          </a:p>
          <a:p>
            <a:r>
              <a:rPr lang="en-US" sz="1400" dirty="0" err="1"/>
              <a:t>discharge_date</a:t>
            </a:r>
            <a:r>
              <a:rPr lang="en-US" sz="1400" dirty="0"/>
              <a:t>, medication, </a:t>
            </a:r>
            <a:r>
              <a:rPr lang="en-US" sz="1400" dirty="0" err="1"/>
              <a:t>test_results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60343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ED6CE-4086-395C-E264-3E44F798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conteneurisée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359B431-D303-C0C3-2E20-D9EA6D606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4128" y="2084832"/>
            <a:ext cx="9720072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154E3D-C68A-A4E8-D820-D89353D0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Schéma de la base </a:t>
            </a:r>
            <a:r>
              <a:rPr lang="fr-FR" dirty="0" err="1"/>
              <a:t>healthcare_db</a:t>
            </a:r>
            <a:endParaRPr lang="fr-FR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0586DD8F-0661-BA2F-ECD8-E93FFBA616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3938" y="2845735"/>
            <a:ext cx="4754562" cy="2903254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F644734-C90D-B5EF-37A5-16935E3B11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Collection unique </a:t>
            </a:r>
            <a:r>
              <a:rPr lang="fr-FR" dirty="0">
                <a:solidFill>
                  <a:schemeClr val="accent2"/>
                </a:solidFill>
              </a:rPr>
              <a:t>patients</a:t>
            </a:r>
          </a:p>
          <a:p>
            <a:pPr lvl="1"/>
            <a:r>
              <a:rPr lang="fr-FR" dirty="0"/>
              <a:t>15 champs typés </a:t>
            </a:r>
            <a:r>
              <a:rPr lang="fr-FR" dirty="0" err="1"/>
              <a:t>snake_case</a:t>
            </a:r>
            <a:endParaRPr lang="fr-FR" dirty="0"/>
          </a:p>
          <a:p>
            <a:pPr lvl="1"/>
            <a:r>
              <a:rPr lang="fr-FR" dirty="0"/>
              <a:t>4 index ciblés</a:t>
            </a:r>
          </a:p>
          <a:p>
            <a:r>
              <a:rPr lang="fr-FR" dirty="0"/>
              <a:t>Indexation :</a:t>
            </a:r>
          </a:p>
          <a:p>
            <a:pPr lvl="1"/>
            <a:r>
              <a:rPr lang="fr-FR" sz="1700" i="1" dirty="0" err="1">
                <a:solidFill>
                  <a:schemeClr val="accent2"/>
                </a:solidFill>
              </a:rPr>
              <a:t>idx_medical_condition</a:t>
            </a:r>
            <a:r>
              <a:rPr lang="fr-FR" sz="1700" i="1" dirty="0">
                <a:solidFill>
                  <a:schemeClr val="accent2"/>
                </a:solidFill>
              </a:rPr>
              <a:t> </a:t>
            </a:r>
            <a:r>
              <a:rPr lang="fr-FR" sz="1700" dirty="0"/>
              <a:t>(condition recherchée)</a:t>
            </a:r>
          </a:p>
          <a:p>
            <a:pPr lvl="1"/>
            <a:r>
              <a:rPr lang="fr-FR" sz="1700" i="1" dirty="0" err="1">
                <a:solidFill>
                  <a:schemeClr val="accent2"/>
                </a:solidFill>
              </a:rPr>
              <a:t>idx_date_of_admission_desc</a:t>
            </a:r>
            <a:r>
              <a:rPr lang="fr-FR" sz="1700" i="1" dirty="0">
                <a:solidFill>
                  <a:schemeClr val="accent2"/>
                </a:solidFill>
              </a:rPr>
              <a:t> </a:t>
            </a:r>
            <a:r>
              <a:rPr lang="fr-FR" sz="1700" dirty="0"/>
              <a:t>(récence)</a:t>
            </a:r>
          </a:p>
          <a:p>
            <a:pPr lvl="1"/>
            <a:r>
              <a:rPr lang="fr-FR" sz="1700" i="1" dirty="0" err="1">
                <a:solidFill>
                  <a:schemeClr val="accent2"/>
                </a:solidFill>
              </a:rPr>
              <a:t>idx_hospital</a:t>
            </a:r>
            <a:r>
              <a:rPr lang="fr-FR" sz="1700" i="1" dirty="0">
                <a:solidFill>
                  <a:schemeClr val="accent2"/>
                </a:solidFill>
              </a:rPr>
              <a:t> </a:t>
            </a:r>
            <a:r>
              <a:rPr lang="fr-FR" sz="1700" dirty="0"/>
              <a:t>(établissement)</a:t>
            </a:r>
          </a:p>
          <a:p>
            <a:pPr lvl="1"/>
            <a:r>
              <a:rPr lang="fr-FR" sz="1700" i="1" dirty="0" err="1">
                <a:solidFill>
                  <a:schemeClr val="accent2"/>
                </a:solidFill>
              </a:rPr>
              <a:t>idx_age_gender</a:t>
            </a:r>
            <a:r>
              <a:rPr lang="fr-FR" sz="1700" i="1" dirty="0">
                <a:solidFill>
                  <a:schemeClr val="accent2"/>
                </a:solidFill>
              </a:rPr>
              <a:t> </a:t>
            </a:r>
            <a:r>
              <a:rPr lang="fr-FR" sz="1700" dirty="0"/>
              <a:t>(composé : profil démographique)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526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F9F32-C050-40A0-4B7F-046E9706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Sécurité - Authentification et 3 rôles différenciés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DC1228-A028-F2F3-9CD3-7570ED33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Authentification activée</a:t>
            </a:r>
            <a:r>
              <a:rPr lang="fr-FR" dirty="0"/>
              <a:t> sur MongoDB · Principe du </a:t>
            </a:r>
            <a:r>
              <a:rPr lang="fr-FR" b="1" dirty="0"/>
              <a:t>moindre privilège</a:t>
            </a:r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dirty="0"/>
              <a:t>Tests sécurité documentés dans </a:t>
            </a:r>
            <a:r>
              <a:rPr lang="fr-FR" i="1" dirty="0">
                <a:solidFill>
                  <a:schemeClr val="accent2"/>
                </a:solidFill>
              </a:rPr>
              <a:t>docs/security_tests.md</a:t>
            </a:r>
          </a:p>
          <a:p>
            <a:r>
              <a:rPr lang="fr-FR" b="1" dirty="0"/>
              <a:t>Validation manuelle </a:t>
            </a:r>
            <a:r>
              <a:rPr lang="fr-FR" dirty="0"/>
              <a:t>: connexion anonyme refusée, écriture analyste bloquée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8857C58-6976-74F4-95FD-A6CD22F68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32011"/>
              </p:ext>
            </p:extLst>
          </p:nvPr>
        </p:nvGraphicFramePr>
        <p:xfrm>
          <a:off x="1024128" y="2687319"/>
          <a:ext cx="9720072" cy="2442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240024">
                  <a:extLst>
                    <a:ext uri="{9D8B030D-6E8A-4147-A177-3AD203B41FA5}">
                      <a16:colId xmlns:a16="http://schemas.microsoft.com/office/drawing/2014/main" val="1694743036"/>
                    </a:ext>
                  </a:extLst>
                </a:gridCol>
                <a:gridCol w="3240024">
                  <a:extLst>
                    <a:ext uri="{9D8B030D-6E8A-4147-A177-3AD203B41FA5}">
                      <a16:colId xmlns:a16="http://schemas.microsoft.com/office/drawing/2014/main" val="2639989581"/>
                    </a:ext>
                  </a:extLst>
                </a:gridCol>
                <a:gridCol w="3240024">
                  <a:extLst>
                    <a:ext uri="{9D8B030D-6E8A-4147-A177-3AD203B41FA5}">
                      <a16:colId xmlns:a16="http://schemas.microsoft.com/office/drawing/2014/main" val="2063316366"/>
                    </a:ext>
                  </a:extLst>
                </a:gridCol>
              </a:tblGrid>
              <a:tr h="61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Rôle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Permissions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651523"/>
                  </a:ext>
                </a:extLst>
              </a:tr>
              <a:tr h="61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 dirty="0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/>
                        <a:t>dbAdmin + userAdmin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 dirty="0"/>
                        <a:t>Administration cluster, gestion utilisateurs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023534"/>
                  </a:ext>
                </a:extLst>
              </a:tr>
              <a:tr h="61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 dirty="0" err="1"/>
                        <a:t>migration_user</a:t>
                      </a:r>
                      <a:endParaRPr lang="fr-F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/>
                        <a:t>readWrite sur healthcare_db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 dirty="0"/>
                        <a:t>Pipeline de migration uniquement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742150"/>
                  </a:ext>
                </a:extLst>
              </a:tr>
              <a:tr h="61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/>
                        <a:t>analyst_user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/>
                        <a:t>read sur healthcare_db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 dirty="0"/>
                        <a:t>Analystes, dashboards,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801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46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D99A16-9D1D-3B2C-44FF-F0630922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 de la migration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037D5-5BFD-0F3F-4E68-C7425028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Plan de la démonstration :</a:t>
            </a:r>
          </a:p>
          <a:p>
            <a:endParaRPr lang="fr-FR" dirty="0"/>
          </a:p>
          <a:p>
            <a:pPr marL="470916" lvl="1" indent="-342900">
              <a:buFont typeface="+mj-lt"/>
              <a:buAutoNum type="arabicPeriod"/>
            </a:pPr>
            <a:r>
              <a:rPr lang="fr-FR" i="1" dirty="0">
                <a:solidFill>
                  <a:schemeClr val="accent2"/>
                </a:solidFill>
              </a:rPr>
              <a:t>docker compose up </a:t>
            </a:r>
            <a:r>
              <a:rPr lang="fr-FR" dirty="0"/>
              <a:t>→ lancement de la stack</a:t>
            </a:r>
          </a:p>
          <a:p>
            <a:pPr marL="470916" lvl="1" indent="-342900">
              <a:buFont typeface="+mj-lt"/>
              <a:buAutoNum type="arabicPeriod"/>
            </a:pPr>
            <a:endParaRPr lang="fr-FR" dirty="0"/>
          </a:p>
          <a:p>
            <a:pPr marL="470916" lvl="1" indent="-342900">
              <a:buFont typeface="+mj-lt"/>
              <a:buAutoNum type="arabicPeriod"/>
            </a:pPr>
            <a:r>
              <a:rPr lang="fr-FR" dirty="0"/>
              <a:t>Lecture des logs de migration en temps réel</a:t>
            </a:r>
          </a:p>
          <a:p>
            <a:pPr marL="470916" lvl="1" indent="-342900">
              <a:buFont typeface="+mj-lt"/>
              <a:buAutoNum type="arabicPeriod"/>
            </a:pPr>
            <a:endParaRPr lang="fr-FR" dirty="0"/>
          </a:p>
          <a:p>
            <a:pPr marL="470916" lvl="1" indent="-342900">
              <a:buFont typeface="+mj-lt"/>
              <a:buAutoNum type="arabicPeriod"/>
            </a:pPr>
            <a:r>
              <a:rPr lang="fr-FR" dirty="0"/>
              <a:t>Vérification dans MongoDB (compte des documents, échantillon) </a:t>
            </a:r>
          </a:p>
          <a:p>
            <a:pPr marL="470916" lvl="1" indent="-342900">
              <a:buFont typeface="+mj-lt"/>
              <a:buAutoNum type="arabicPeriod"/>
            </a:pPr>
            <a:endParaRPr lang="fr-FR" dirty="0"/>
          </a:p>
          <a:p>
            <a:pPr marL="470916" lvl="1" indent="-342900">
              <a:buFont typeface="+mj-lt"/>
              <a:buAutoNum type="arabicPeriod"/>
            </a:pPr>
            <a:r>
              <a:rPr lang="fr-FR" dirty="0"/>
              <a:t>Exécution des 25 tests </a:t>
            </a:r>
            <a:r>
              <a:rPr lang="fr-FR" dirty="0" err="1"/>
              <a:t>pytest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400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55BD1-847C-F455-2D77-BE4E8A13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structurants &amp; qualité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412B53-D8FE-4666-DF8A-9EDAB1E85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Choix techniques structurants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25129FF-3F6D-8F00-A63D-8BFF2002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>
            <a:normAutofit/>
          </a:bodyPr>
          <a:lstStyle/>
          <a:p>
            <a:r>
              <a:rPr lang="fr-FR" sz="2000" b="1" dirty="0"/>
              <a:t>MongoDB 8.2</a:t>
            </a:r>
            <a:r>
              <a:rPr lang="fr-FR" sz="2000" dirty="0"/>
              <a:t> - version LTS récente</a:t>
            </a:r>
          </a:p>
          <a:p>
            <a:r>
              <a:rPr lang="fr-FR" sz="2000" b="1" dirty="0"/>
              <a:t>Python 3.13 + </a:t>
            </a:r>
            <a:r>
              <a:rPr lang="fr-FR" sz="2000" b="1" dirty="0" err="1"/>
              <a:t>uv</a:t>
            </a:r>
            <a:r>
              <a:rPr lang="fr-FR" sz="2000" dirty="0"/>
              <a:t> - gestion de dépendances rapide, reproductible</a:t>
            </a:r>
          </a:p>
          <a:p>
            <a:r>
              <a:rPr lang="fr-FR" sz="2000" b="1" dirty="0"/>
              <a:t>Idempotence par </a:t>
            </a:r>
            <a:r>
              <a:rPr lang="fr-FR" sz="2000" b="1" i="1" dirty="0" err="1">
                <a:solidFill>
                  <a:schemeClr val="accent2"/>
                </a:solidFill>
              </a:rPr>
              <a:t>delete_many</a:t>
            </a:r>
            <a:r>
              <a:rPr lang="fr-FR" sz="2000" i="1" dirty="0">
                <a:solidFill>
                  <a:schemeClr val="accent2"/>
                </a:solidFill>
              </a:rPr>
              <a:t> </a:t>
            </a:r>
            <a:r>
              <a:rPr lang="fr-FR" sz="2000" dirty="0"/>
              <a:t>- la migration peut être relancée sans dupliquer</a:t>
            </a:r>
          </a:p>
          <a:p>
            <a:r>
              <a:rPr lang="fr-FR" sz="2000" b="1" dirty="0"/>
              <a:t>4 index ciblés</a:t>
            </a:r>
            <a:r>
              <a:rPr lang="fr-FR" sz="2000" dirty="0"/>
              <a:t> - design métier (cf. slide 6), pas de "tout indexer"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6CF470D-D9C9-F553-674A-F91C5EEEF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Qualité du livrable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AB6E96D-F481-7E80-6257-548E982B40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b="1" dirty="0"/>
              <a:t>25 tests </a:t>
            </a:r>
            <a:r>
              <a:rPr lang="fr-FR" b="1" dirty="0" err="1"/>
              <a:t>pytest</a:t>
            </a:r>
            <a:r>
              <a:rPr lang="fr-FR" dirty="0"/>
              <a:t> verts en </a:t>
            </a:r>
            <a:r>
              <a:rPr lang="fr-FR" b="1" dirty="0"/>
              <a:t>1,7 sec</a:t>
            </a:r>
          </a:p>
          <a:p>
            <a:pPr lvl="1"/>
            <a:r>
              <a:rPr lang="fr-FR" dirty="0"/>
              <a:t>Tests CSV (intégrité source)</a:t>
            </a:r>
          </a:p>
          <a:p>
            <a:pPr lvl="1"/>
            <a:r>
              <a:rPr lang="fr-FR" dirty="0"/>
              <a:t>Tests MongoDB (post-migration)</a:t>
            </a:r>
          </a:p>
          <a:p>
            <a:pPr lvl="1"/>
            <a:r>
              <a:rPr lang="fr-FR" dirty="0"/>
              <a:t>Tests exports JSONL/CSV</a:t>
            </a:r>
            <a:endParaRPr lang="fr-FR" b="1" dirty="0"/>
          </a:p>
          <a:p>
            <a:r>
              <a:rPr lang="fr-FR" dirty="0"/>
              <a:t>54 966 documents migrés en 1,1 sec</a:t>
            </a:r>
          </a:p>
          <a:p>
            <a:r>
              <a:rPr lang="fr-FR" b="1" dirty="0"/>
              <a:t>22 ADR</a:t>
            </a:r>
            <a:r>
              <a:rPr lang="fr-FR" dirty="0"/>
              <a:t> tracées dans </a:t>
            </a:r>
            <a:r>
              <a:rPr lang="fr-FR" i="1" dirty="0">
                <a:solidFill>
                  <a:schemeClr val="accent2"/>
                </a:solidFill>
              </a:rPr>
              <a:t>DECISIONS.md</a:t>
            </a:r>
          </a:p>
        </p:txBody>
      </p:sp>
    </p:spTree>
    <p:extLst>
      <p:ext uri="{BB962C8B-B14F-4D97-AF65-F5344CB8AC3E}">
        <p14:creationId xmlns:p14="http://schemas.microsoft.com/office/powerpoint/2010/main" val="132960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29D9-D49E-7F0E-C294-BFF76985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Cloud vs serveur local</a:t>
            </a:r>
            <a:br>
              <a:rPr lang="fr-FR" dirty="0"/>
            </a:br>
            <a:r>
              <a:rPr lang="fr-FR" dirty="0"/>
              <a:t>un arbitrage à poser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0906BB-3E7E-7B24-76EC-2FE42BDE6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Avantages du cloud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126BDF0-F326-B252-F6D0-A915B16842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fr-FR" b="1" dirty="0"/>
              <a:t>Scalabilité élastique</a:t>
            </a:r>
            <a:r>
              <a:rPr lang="fr-FR" dirty="0"/>
              <a:t> : augmente et diminue selon la charge réelle</a:t>
            </a:r>
          </a:p>
          <a:p>
            <a:pPr lvl="1"/>
            <a:r>
              <a:rPr lang="fr-FR" b="1" dirty="0"/>
              <a:t>Haute disponibilité managée</a:t>
            </a:r>
            <a:r>
              <a:rPr lang="fr-FR" dirty="0"/>
              <a:t> : redondance multi-AZ, basculement automatique</a:t>
            </a:r>
          </a:p>
          <a:p>
            <a:pPr lvl="1"/>
            <a:r>
              <a:rPr lang="fr-FR" b="1" dirty="0"/>
              <a:t>Sauvegardes &amp; sécurité</a:t>
            </a:r>
            <a:r>
              <a:rPr lang="fr-FR" dirty="0"/>
              <a:t> : intégrées nativement (PITR, snapshots, IAM, chiffrement)</a:t>
            </a:r>
          </a:p>
          <a:p>
            <a:pPr lvl="1"/>
            <a:r>
              <a:rPr lang="fr-FR" b="1" dirty="0"/>
              <a:t>Paiement à l'usage</a:t>
            </a:r>
            <a:r>
              <a:rPr lang="fr-FR" dirty="0"/>
              <a:t> : pas d'investissement matériel initial</a:t>
            </a:r>
          </a:p>
          <a:p>
            <a:pPr lvl="1"/>
            <a:r>
              <a:rPr lang="fr-FR" b="1" dirty="0"/>
              <a:t>Mondialisation</a:t>
            </a:r>
            <a:r>
              <a:rPr lang="fr-FR" dirty="0"/>
              <a:t> : déploiement en plusieurs régions en quelques clics</a:t>
            </a:r>
          </a:p>
          <a:p>
            <a:pPr lvl="1"/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676C76-FF20-1377-E8F1-0EB308484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b="1" dirty="0"/>
              <a:t>Inconvénients du cloud</a:t>
            </a:r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311B2B3-3AAF-4220-9739-4A7078FC791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lang="fr-FR" b="1" dirty="0" err="1"/>
              <a:t>Vendor</a:t>
            </a:r>
            <a:r>
              <a:rPr lang="fr-FR" b="1" dirty="0"/>
              <a:t> lock-in</a:t>
            </a:r>
            <a:r>
              <a:rPr lang="fr-FR" dirty="0"/>
              <a:t> : dépendance forte au fournisseur, migration coûteuse</a:t>
            </a:r>
          </a:p>
          <a:p>
            <a:pPr lvl="1"/>
            <a:r>
              <a:rPr lang="fr-FR" b="1" dirty="0"/>
              <a:t>Coûts à surveiller</a:t>
            </a:r>
            <a:r>
              <a:rPr lang="fr-FR" dirty="0"/>
              <a:t> : facture variable, dérives possibles si non monitoré</a:t>
            </a:r>
          </a:p>
          <a:p>
            <a:pPr lvl="1"/>
            <a:r>
              <a:rPr lang="fr-FR" b="1" dirty="0"/>
              <a:t>Maîtrise réglementaire</a:t>
            </a:r>
            <a:r>
              <a:rPr lang="fr-FR" dirty="0"/>
              <a:t> : RGPD et conformité santé selon les régions</a:t>
            </a:r>
          </a:p>
          <a:p>
            <a:pPr lvl="1"/>
            <a:r>
              <a:rPr lang="fr-FR" b="1" dirty="0"/>
              <a:t>Connectivité requise</a:t>
            </a:r>
            <a:r>
              <a:rPr lang="fr-FR" dirty="0"/>
              <a:t> : pas d'autonomie sans réseau</a:t>
            </a:r>
          </a:p>
          <a:p>
            <a:pPr lvl="1"/>
            <a:r>
              <a:rPr lang="fr-FR" b="1" dirty="0"/>
              <a:t>Courbe d'apprentissage</a:t>
            </a:r>
            <a:r>
              <a:rPr lang="fr-FR" dirty="0"/>
              <a:t> : écosystème dense, nombreuses spécificités</a:t>
            </a:r>
          </a:p>
        </p:txBody>
      </p:sp>
    </p:spTree>
    <p:extLst>
      <p:ext uri="{BB962C8B-B14F-4D97-AF65-F5344CB8AC3E}">
        <p14:creationId xmlns:p14="http://schemas.microsoft.com/office/powerpoint/2010/main" val="147218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A8A15-FE29-AF55-C89E-D9454976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AWS : l'étude documentaire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13593B-5C43-3147-ECB5-E625C73C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Document : </a:t>
            </a:r>
            <a:r>
              <a:rPr lang="fr-FR" i="1" dirty="0">
                <a:solidFill>
                  <a:schemeClr val="accent2"/>
                </a:solidFill>
              </a:rPr>
              <a:t>docs/aws_research.md</a:t>
            </a:r>
          </a:p>
          <a:p>
            <a:r>
              <a:rPr lang="fr-FR" b="1" dirty="0"/>
              <a:t>5 thèmes traités</a:t>
            </a:r>
            <a:r>
              <a:rPr lang="fr-FR" dirty="0"/>
              <a:t> :</a:t>
            </a:r>
          </a:p>
          <a:p>
            <a:pPr marL="470916" lvl="1" indent="-342900">
              <a:buFont typeface="+mj-lt"/>
              <a:buAutoNum type="arabicPeriod"/>
            </a:pPr>
            <a:r>
              <a:rPr lang="fr-FR" b="1" dirty="0"/>
              <a:t>Compte &amp; sécurité</a:t>
            </a:r>
            <a:r>
              <a:rPr lang="fr-FR" dirty="0"/>
              <a:t> — création, MFA, IAM, alertes facturation</a:t>
            </a:r>
          </a:p>
          <a:p>
            <a:pPr marL="470916" lvl="1" indent="-342900">
              <a:buFont typeface="+mj-lt"/>
              <a:buAutoNum type="arabicPeriod"/>
            </a:pPr>
            <a:endParaRPr lang="fr-FR" b="1" dirty="0"/>
          </a:p>
          <a:p>
            <a:pPr marL="470916" lvl="1" indent="-342900">
              <a:buFont typeface="+mj-lt"/>
              <a:buAutoNum type="arabicPeriod"/>
            </a:pPr>
            <a:r>
              <a:rPr lang="fr-FR" b="1" dirty="0"/>
              <a:t>Tarification &amp; Free Tier</a:t>
            </a:r>
            <a:r>
              <a:rPr lang="fr-FR" dirty="0"/>
              <a:t> — modèle </a:t>
            </a:r>
            <a:r>
              <a:rPr lang="fr-FR" dirty="0" err="1"/>
              <a:t>pay</a:t>
            </a:r>
            <a:r>
              <a:rPr lang="fr-FR" dirty="0"/>
              <a:t>-as-</a:t>
            </a:r>
            <a:r>
              <a:rPr lang="fr-FR" dirty="0" err="1"/>
              <a:t>you</a:t>
            </a:r>
            <a:r>
              <a:rPr lang="fr-FR" dirty="0"/>
              <a:t>-go, refonte du Free Tier en juillet 2025</a:t>
            </a:r>
          </a:p>
          <a:p>
            <a:pPr marL="470916" lvl="1" indent="-342900">
              <a:buFont typeface="+mj-lt"/>
              <a:buAutoNum type="arabicPeriod"/>
            </a:pPr>
            <a:endParaRPr lang="fr-FR" b="1" dirty="0"/>
          </a:p>
          <a:p>
            <a:pPr marL="470916" lvl="1" indent="-342900">
              <a:buFont typeface="+mj-lt"/>
              <a:buAutoNum type="arabicPeriod"/>
            </a:pPr>
            <a:r>
              <a:rPr lang="fr-FR" b="1" dirty="0"/>
              <a:t>RDS &amp; </a:t>
            </a:r>
            <a:r>
              <a:rPr lang="fr-FR" b="1" dirty="0" err="1"/>
              <a:t>DocumentDB</a:t>
            </a:r>
            <a:r>
              <a:rPr lang="fr-FR" dirty="0"/>
              <a:t> — pourquoi MongoDB n'est pas sur RDS, compatibilité partielle </a:t>
            </a:r>
            <a:r>
              <a:rPr lang="fr-FR" dirty="0" err="1"/>
              <a:t>DocumentDB</a:t>
            </a:r>
            <a:endParaRPr lang="fr-FR" dirty="0"/>
          </a:p>
          <a:p>
            <a:pPr marL="470916" lvl="1" indent="-342900">
              <a:buFont typeface="+mj-lt"/>
              <a:buAutoNum type="arabicPeriod"/>
            </a:pPr>
            <a:endParaRPr lang="fr-FR" b="1" dirty="0"/>
          </a:p>
          <a:p>
            <a:pPr marL="470916" lvl="1" indent="-342900">
              <a:buFont typeface="+mj-lt"/>
              <a:buAutoNum type="arabicPeriod"/>
            </a:pPr>
            <a:r>
              <a:rPr lang="fr-FR" b="1" dirty="0"/>
              <a:t>ECS</a:t>
            </a:r>
            <a:r>
              <a:rPr lang="fr-FR" dirty="0"/>
              <a:t> — orchestration de conteneurs, </a:t>
            </a:r>
            <a:r>
              <a:rPr lang="fr-FR" dirty="0" err="1"/>
              <a:t>Fargate</a:t>
            </a:r>
            <a:r>
              <a:rPr lang="fr-FR" dirty="0"/>
              <a:t> vs EC2, deux options d'architecture</a:t>
            </a:r>
          </a:p>
          <a:p>
            <a:pPr marL="470916" lvl="1" indent="-342900">
              <a:buFont typeface="+mj-lt"/>
              <a:buAutoNum type="arabicPeriod"/>
            </a:pPr>
            <a:endParaRPr lang="en-US" b="1" dirty="0"/>
          </a:p>
          <a:p>
            <a:pPr marL="470916" lvl="1" indent="-342900">
              <a:buFont typeface="+mj-lt"/>
              <a:buAutoNum type="arabicPeriod"/>
            </a:pPr>
            <a:r>
              <a:rPr lang="en-US" b="1" dirty="0" err="1"/>
              <a:t>Sauvegardes</a:t>
            </a:r>
            <a:r>
              <a:rPr lang="en-US" b="1" dirty="0"/>
              <a:t> &amp; monitoring</a:t>
            </a:r>
            <a:r>
              <a:rPr lang="en-US" dirty="0"/>
              <a:t> — AWS Backup, CloudWatch, Performance Insights</a:t>
            </a:r>
          </a:p>
        </p:txBody>
      </p:sp>
    </p:spTree>
    <p:extLst>
      <p:ext uri="{BB962C8B-B14F-4D97-AF65-F5344CB8AC3E}">
        <p14:creationId xmlns:p14="http://schemas.microsoft.com/office/powerpoint/2010/main" val="332454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A4519-A24C-25B6-DA5F-E4E707C3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Étude comparative AWS : Options A vs B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6433BA7-B148-61DC-56E9-A9C9B19E17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4128" y="2286000"/>
            <a:ext cx="4754562" cy="2849765"/>
          </a:xfrm>
          <a:prstGeom prst="rect">
            <a:avLst/>
          </a:prstGeom>
        </p:spPr>
      </p:pic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08A8F395-60B1-2811-F05C-6ECCDF4368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8982341"/>
              </p:ext>
            </p:extLst>
          </p:nvPr>
        </p:nvGraphicFramePr>
        <p:xfrm>
          <a:off x="5989638" y="2286000"/>
          <a:ext cx="4754562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626">
                  <a:extLst>
                    <a:ext uri="{9D8B030D-6E8A-4147-A177-3AD203B41FA5}">
                      <a16:colId xmlns:a16="http://schemas.microsoft.com/office/drawing/2014/main" val="1177930338"/>
                    </a:ext>
                  </a:extLst>
                </a:gridCol>
                <a:gridCol w="1186774">
                  <a:extLst>
                    <a:ext uri="{9D8B030D-6E8A-4147-A177-3AD203B41FA5}">
                      <a16:colId xmlns:a16="http://schemas.microsoft.com/office/drawing/2014/main" val="1755399242"/>
                    </a:ext>
                  </a:extLst>
                </a:gridCol>
                <a:gridCol w="1399162">
                  <a:extLst>
                    <a:ext uri="{9D8B030D-6E8A-4147-A177-3AD203B41FA5}">
                      <a16:colId xmlns:a16="http://schemas.microsoft.com/office/drawing/2014/main" val="336700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Critère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Option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Option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33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0" dirty="0"/>
                        <a:t>Coût mensuel (</a:t>
                      </a:r>
                      <a:r>
                        <a:rPr lang="fr-FR" sz="1600" b="0" dirty="0" err="1"/>
                        <a:t>pré-prod</a:t>
                      </a:r>
                      <a:r>
                        <a:rPr lang="fr-FR" sz="16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~52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~17 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5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0" dirty="0"/>
                        <a:t>Délégation à 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Maximum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Minimum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5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0" dirty="0"/>
                        <a:t>HA 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Oui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À implémenter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5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0" dirty="0"/>
                        <a:t>Portabilité </a:t>
                      </a:r>
                      <a:r>
                        <a:rPr lang="fr-FR" sz="1600" b="0" dirty="0" err="1"/>
                        <a:t>local→cloud</a:t>
                      </a:r>
                      <a:endParaRPr lang="fr-FR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Adaptation requise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Quasi-totale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424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0" dirty="0"/>
                        <a:t>Complexité opérationnelle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Faible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Forte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61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888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8DF19-E26F-B6C6-E68A-9C29AE43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 identifiées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F0091-5F0C-A4C4-E8B3-5391A0F0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Limites assumées du projet actuel</a:t>
            </a:r>
            <a:r>
              <a:rPr lang="fr-FR" dirty="0"/>
              <a:t> :</a:t>
            </a:r>
          </a:p>
          <a:p>
            <a:pPr lvl="1"/>
            <a:r>
              <a:rPr lang="fr-FR" b="1" dirty="0"/>
              <a:t>Secrets en clair</a:t>
            </a:r>
            <a:r>
              <a:rPr lang="fr-FR" dirty="0"/>
              <a:t> dans le .env — à remplacer par AWS Secrets Manager / Vault en production</a:t>
            </a:r>
          </a:p>
          <a:p>
            <a:pPr lvl="1"/>
            <a:r>
              <a:rPr lang="fr-FR" b="1" dirty="0"/>
              <a:t>Pas de TLS</a:t>
            </a:r>
            <a:r>
              <a:rPr lang="fr-FR" dirty="0"/>
              <a:t> sur la connexion MongoDB locale — acceptable en dev, à activer en prod</a:t>
            </a:r>
          </a:p>
          <a:p>
            <a:pPr lvl="1"/>
            <a:r>
              <a:rPr lang="fr-FR" b="1" dirty="0"/>
              <a:t>Idempotence par </a:t>
            </a:r>
            <a:r>
              <a:rPr lang="fr-FR" b="1" dirty="0" err="1"/>
              <a:t>delete_many</a:t>
            </a:r>
            <a:r>
              <a:rPr lang="fr-FR" dirty="0"/>
              <a:t> — efficace mais brutal, à remplacer par </a:t>
            </a:r>
            <a:r>
              <a:rPr lang="fr-FR" dirty="0" err="1"/>
              <a:t>upsert</a:t>
            </a:r>
            <a:r>
              <a:rPr lang="fr-FR" dirty="0"/>
              <a:t> pour incrémental</a:t>
            </a:r>
          </a:p>
          <a:p>
            <a:pPr lvl="1"/>
            <a:r>
              <a:rPr lang="fr-FR" b="1" dirty="0" err="1"/>
              <a:t>Dataset</a:t>
            </a:r>
            <a:r>
              <a:rPr lang="fr-FR" b="1" dirty="0"/>
              <a:t> synthétique</a:t>
            </a:r>
            <a:r>
              <a:rPr lang="fr-FR" dirty="0"/>
              <a:t> (</a:t>
            </a:r>
            <a:r>
              <a:rPr lang="fr-FR" dirty="0" err="1"/>
              <a:t>Kaggle</a:t>
            </a:r>
            <a:r>
              <a:rPr lang="fr-FR" dirty="0"/>
              <a:t>) — pas de validation sur données réelles</a:t>
            </a:r>
          </a:p>
          <a:p>
            <a:pPr lvl="1"/>
            <a:r>
              <a:rPr lang="fr-FR" b="1" dirty="0"/>
              <a:t>Pas de déploiement AWS effectif</a:t>
            </a:r>
            <a:r>
              <a:rPr lang="fr-FR" dirty="0"/>
              <a:t> — étude documentaire uniquement</a:t>
            </a:r>
          </a:p>
        </p:txBody>
      </p:sp>
    </p:spTree>
    <p:extLst>
      <p:ext uri="{BB962C8B-B14F-4D97-AF65-F5344CB8AC3E}">
        <p14:creationId xmlns:p14="http://schemas.microsoft.com/office/powerpoint/2010/main" val="866192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42EE398-655C-64E3-4B62-BA23D9E43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399DD0F5-C67A-215B-735B-CA9C358AF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153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57</TotalTime>
  <Words>973</Words>
  <Application>Microsoft Office PowerPoint</Application>
  <PresentationFormat>Grand écran</PresentationFormat>
  <Paragraphs>162</Paragraphs>
  <Slides>14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Courier New</vt:lpstr>
      <vt:lpstr>Tw Cen MT</vt:lpstr>
      <vt:lpstr>Tw Cen MT Condensed</vt:lpstr>
      <vt:lpstr>Wingdings</vt:lpstr>
      <vt:lpstr>Wingdings 3</vt:lpstr>
      <vt:lpstr>Intégral</vt:lpstr>
      <vt:lpstr>Maintenez et documentez un système de stockage des données sécurisé et performant</vt:lpstr>
      <vt:lpstr>Contexte &amp; demande client</vt:lpstr>
      <vt:lpstr>Repo &amp; structure documentaire</vt:lpstr>
      <vt:lpstr>Données source &amp; choix MongoDB</vt:lpstr>
      <vt:lpstr>Architecture conteneurisée</vt:lpstr>
      <vt:lpstr>Schéma de la base healthcare_db</vt:lpstr>
      <vt:lpstr>Sécurité - Authentification et 3 rôles différenciés</vt:lpstr>
      <vt:lpstr>Démonstration de la migration</vt:lpstr>
      <vt:lpstr>Choix structurants &amp; qualité</vt:lpstr>
      <vt:lpstr>Cloud vs serveur local un arbitrage à poser</vt:lpstr>
      <vt:lpstr>AWS : l'étude documentaire</vt:lpstr>
      <vt:lpstr>Étude comparative AWS : Options A vs B</vt:lpstr>
      <vt:lpstr>Limites identifiées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Paul-Alexandre ANNONAY</dc:creator>
  <cp:lastModifiedBy>Paul-Alexandre ANNONAY</cp:lastModifiedBy>
  <cp:revision>1</cp:revision>
  <dcterms:created xsi:type="dcterms:W3CDTF">2026-05-02T17:20:21Z</dcterms:created>
  <dcterms:modified xsi:type="dcterms:W3CDTF">2026-05-02T18:18:12Z</dcterms:modified>
</cp:coreProperties>
</file>